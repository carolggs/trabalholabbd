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468880"/>
            <a:ext cx="12188952" cy="19202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E80020"/>
                </a:solidFill>
                <a:latin typeface="Calibri"/>
              </a:rPr>
              <a:t>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18872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FFFFFF"/>
                </a:solidFill>
                <a:latin typeface="Calibri"/>
              </a:rPr>
              <a:t>SCC-541 — Laboratório de Bases de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9067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D0D0D0"/>
                </a:solidFill>
                <a:latin typeface="Calibri"/>
              </a:rPr>
              <a:t>Projeto Prático P3 — Decisões de SQL e Banco de Dados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0020"/>
                </a:solidFill>
                <a:latin typeface="Calibri"/>
              </a:rPr>
              <a:t>Carolina Guerreiro  ·  17 de junho de 2026  ·  ICMC — USP São Carlos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Conceitos de SQL e BD Aplicados no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0020"/>
                </a:solidFill>
                <a:latin typeface="Calibri"/>
              </a:rPr>
              <a:t>Estrutura e DDL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19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17904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CREATE TABLE com constraints (UNIQUE, CHECK, FK)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75104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SERIAL — auto-incremento para PKs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32304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ON CONFLICT DO NOTHING — idempotência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89504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RETURNING — recupera id após INSERT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346704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0020"/>
                </a:solidFill>
                <a:latin typeface="Calibri"/>
              </a:rPr>
              <a:t>Automação no banco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95344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67328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Triggers AFTER INSERT / UPDATE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52544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24528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Stored Functions RETURNS INTEGER / 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09744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81728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PL/pgSQL com variáveis NEW, OLD, TG_OP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66944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38928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RAISE EXCEPTION para reverter transação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09728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0020"/>
                </a:solidFill>
                <a:latin typeface="Calibri"/>
              </a:rPr>
              <a:t>Consultas avançadas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3952" y="1645919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151790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CTEs (WITH) para modularidade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3952" y="2103120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197510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Subqueries correlacionadas com EXISTS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2560320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243230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COUNT(CASE WHEN) — contagem condicional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73952" y="3017520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288950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COUNT(DISTINCT) — valores únicos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73952" y="3474720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56832" y="334670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Fórmula de Haversine em SQL puro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80390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0020"/>
                </a:solidFill>
                <a:latin typeface="Calibri"/>
              </a:rPr>
              <a:t>Performance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3952" y="4352544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2" y="42245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9 índices B-Tree justificados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73952" y="4809744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2" y="46817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Views reutilizáveis (vw_resultados)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73952" y="5266944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6832" y="51389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Bounding Box geográfico como pré-filtro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DDL — Tabelas USERS e USERS_LOG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11521440" cy="416052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33856"/>
            <a:ext cx="11301984" cy="3941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CREATE TABLE IF NOT EXISTS USERS (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    userid      SERIAL PRIMARY KEY,          -- auto-incremento; banco gera o 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login       VARCHAR(100) NOT NULL UNIQUE, -- UNIQUE: banco rejeita duplicatas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password    VARCHAR(255) NOT NULL,        -- sempre MD5, nunca texto puro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tipo        VARCHAR(20)  NOT NULL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                CHECK (tipo IN ('Admin','Escuderia','Piloto')),  -- garantia no banco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    id_original INTEGER NULL                  -- NULL permitido para o Admin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);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CREATE UNIQUE INDEX IF NOT EXISTS idx_users_login ON USERS(login); -- acelera auth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CREATE TABLE IF NOT EXISTS USERS_LOG (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    logid     SERIAL PRIMARY KEY,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userid    INTEGER     NOT NULL REFERENCES USERS(userid), -- FK: sem logs órfãos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acao      VARCHAR(10) NOT NULL CHECK (acao IN ('LOGIN','LOGOUT')),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timestamp TIMESTAMP   NOT NULL DEFAULT NOW()  -- banco preenche automaticamente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);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5285232"/>
            <a:ext cx="1152144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5321808"/>
            <a:ext cx="11301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  <a:latin typeface="Calibri"/>
              </a:rPr>
              <a:t>Por que CHECK no banco e não só no backend?  Qualquer acesso ao banco (scripts, ferramentas externas, outros serviços) está protegido — não depende de validação no código.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5815584"/>
            <a:ext cx="1152144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5852160"/>
            <a:ext cx="11301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  <a:latin typeface="Calibri"/>
              </a:rPr>
              <a:t>UNIQUE INDEX além da constraint UNIQUE?  Duas camadas: a constraint garante semântica, o índice acelera o SELECT por login na autenticação.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INSERT … SELECT — Populate Automático dos Usuários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11521440" cy="434340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33856"/>
            <a:ext cx="11301984" cy="4123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Em vez de inserir piloto por piloto no backend,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uma única instrução SQL processa toda a tabela de uma vez.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INSERT INTO USERS (login, password, tipo, id_original)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SELECT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d.driver_ref || '_d'  AS login,      -- ex: 'hamilton_d'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md5(d.driver_ref)     AS password,   -- md5() calculado DENTRO do banco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'Piloto'              AS tipo,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d.id                  AS id_original -- referência ao driver de origem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FROM drivers 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ON CONFLICT (login) DO NOTHING;          -- idempotente: seguro rodar N vezes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Mesmo padrão para escuderias (sufixo '_c')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INSERT INTO USERS (login, password, tipo, id_original)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SELECT c.constructor_ref || '_c', md5(c.constructor_ref), 'Escuderia', c.id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FROM constructors c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ON CONFLICT (login) DO NOTHING;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Verificação após carga: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SELECT tipo, COUNT(*) AS total FROM USERS GROUP BY tipo ORDER BY tipo;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5458968"/>
            <a:ext cx="1152144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5495544"/>
            <a:ext cx="11301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  <a:latin typeface="Calibri"/>
              </a:rPr>
              <a:t>md5() calculado no PostgreSQL: a senha nunca trafega em texto puro entre aplicação e banco.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5989320"/>
            <a:ext cx="1152144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6025896"/>
            <a:ext cx="11301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  <a:latin typeface="Calibri"/>
              </a:rPr>
              <a:t>ON CONFLICT DO NOTHING: torna o script idempotente — pode ser reexecutado sem efeito colateral.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Triggers — Sincronização Automática DRIVERS →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7899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0020"/>
                </a:solidFill>
                <a:latin typeface="Calibri"/>
              </a:rPr>
              <a:t>O que é uma Trigger?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" y="1627631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9961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Procedimento executado automaticamente pelo banco em resposta a INSERT/UPDATE/DELETE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2084831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956815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Independe do código da aplicação — ativa para qualquer acesso ao banco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414015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0020"/>
                </a:solidFill>
                <a:latin typeface="Calibri"/>
              </a:rPr>
              <a:t>Estrutura no PostgreSQL: 2 partes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2962656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83463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1. Função de trigger (PL/pgSQL) — o código que executa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3419856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29183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2. Declaração da trigger — associa a função ao evento e à tabela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749039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0020"/>
                </a:solidFill>
                <a:latin typeface="Calibri"/>
              </a:rPr>
              <a:t>Decisão de design: por que AFTER e não BEFORE INSERT?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" y="4297679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169663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AFTER garante que NEW.id já existe (SERIAL gerado pelo banco antes da trigger)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" y="4754879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46268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Com BEFORE INSERT, o SERIAL ainda não teria sido atribuído — id_original seria NULL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5084064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0020"/>
                </a:solidFill>
                <a:latin typeface="Calibri"/>
              </a:rPr>
              <a:t>Decisão: por que trigger e não lógica no backend?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" y="5632703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5504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Garantia independe da camada de acesso: scripts SQL, ferramentas de admin, migrações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6089903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59618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 enunciado exige explicitamente sincronização automática via trigger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Trigger — Código PL/pgSQL e Controle de Integridade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521208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15568"/>
            <a:ext cx="11301984" cy="4992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CREATE OR REPLACE FUNCTION fn_sync_driver_to_users()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RETURNS TRIGGER AS $$               -- tipo especial para triggers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DECLARE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    v_login    VARCHAR(100);        -- variável local para o login gerado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    v_password VARCHAR(255);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BEGIN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    v_login    := NEW.driver_ref || '_d'; -- NEW = linha sendo inserida/atualizada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    v_password := md5(NEW.driver_ref);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IF TG_OP = 'INSERT' THEN        -- TG_OP: variável especial com 'INSERT'/'UPDATE'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 IF EXISTS (SELECT 1 FROM USERS WHERE login = v_login) THEN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            -- RAISE EXCEPTION cancela toda a operação atomicamente: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            -- o INSERT em drivers é revertido, nada é gravado.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     RAISE EXCEPTION 'Login "%" já existe. Inserção cancelada.', v_login;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 END IF;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 INSERT INTO USERS (login, password, tipo, id_original)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        VALUES (v_login, v_password, 'Piloto', NEW.id);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ELSIF TG_OP = 'UPDATE' THEN     -- OLD = versão anterior da linha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 IF OLD.driver_ref &lt;&gt; NEW.driver_ref THEN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     IF EXISTS (SELECT 1 FROM USERS WHERE login = v_login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                                      AND id_original &lt;&gt; NEW.id) THEN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         RAISE EXCEPTION 'Login "%" já pertence a outro usuário.', v_login;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     END IF;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 END IF;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 UPDATE USERS SET login = v_login, password = v_password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 WHERE id_original = NEW.id AND tipo = 'Piloto';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END IF;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RETURN NEW;                     -- obrigatório em triggers AFTER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END;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$$ LANGUAGE plpgsql;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CREATE TRIGGER trg_sync_driver_to_users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AFTER INSERT OR UPDATE ON drivers   -- ativa APÓS o INSERT (NEW.id já existe)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FOR EACH ROW                        -- uma chamada por linha afetada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EXECUTE FUNCTION fn_sync_driver_to_users();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Stored Functions — RETURNS INTEGER (Escuderia)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443484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15568"/>
            <a:ext cx="11301984" cy="4215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Função 1: total de vitórias da escuderia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position é VARCHAR no schema → comparamos com '1' (string), não 1 (inteiro)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CREATE OR REPLACE FUNCTION fn_escuderia_vitories(p_constructor_id INTEGER)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RETURNS INTEGER AS $$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BEGIN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RETURN (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SELECT COUNT(*) FROM results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WHERE constructor_id = p_constructor_id AND position = '1'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  );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END;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$$ LANGUAGE plpgsql;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Função 2: total de pilotos distintos que correram pela escuderia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CREATE OR REPLACE FUNCTION fn_escuderia_pilots_count(p_constructor_id INTEGER)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RETURNS INTEGER AS $$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BEGIN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RETURN (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SELECT COUNT(DISTINCT driver_id)  -- DISTINCT: conta cada piloto uma única vez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FROM results WHERE constructor_id = p_constructor_id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  );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END;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$$ LANGUAGE plpgsql;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Chamada no backend (Node.js/Express):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SELECT fn_escuderia_vitories($1) AS vitories  → ex: 183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SELECT fn_escuderia_pilots_count($1) AS pilots → ex: 47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5559552"/>
            <a:ext cx="1152144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5596128"/>
            <a:ext cx="11301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  <a:latin typeface="Calibri"/>
              </a:rPr>
              <a:t>Por que funções armazenadas em vez de query no backend?  Encapsula cálculos complexos no banco, mantém o código Node.js limpo e garante reutilização.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6089904"/>
            <a:ext cx="1152144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6126480"/>
            <a:ext cx="11301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  <a:latin typeface="Calibri"/>
              </a:rPr>
              <a:t>COUNT(DISTINCT driver_id): um piloto que correu 200 corridas pela escuderia é contado uma única vez.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Stored Functions — RETURNS TABLE (múltiplas colunas)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516636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15568"/>
            <a:ext cx="11301984" cy="4946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Quando precisamos retornar mais de uma coluna, usamos RETURNS TABLE.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O chamador faz: SELECT * FROM fn_escuderia_years($1)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CREATE OR REPLACE FUNCTION fn_escuderia_years(p_constructor_id INTEGER)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RETURNS TABLE(first_year INTEGER, last_year INTEGER) AS $$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BEGIN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RETURN QUERY               -- executa a query e retorna as linhas como resultado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SELECT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MIN(s.year)::INTEGER,    -- ::INTEGER: cast explícito (MIN pode retornar NUMERIC)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MAX(s.year)::INTEGER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FROM results r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JOIN races ra   ON r.race_id    = ra.id   -- results não tem year; precisa de JOIN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JOIN seasons s  ON ra.season_id = s.id    -- year está em seasons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WHERE r.constructor_id = p_constructor_id;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  -- Usa results (não seasons) para anos com participação REAL da escuderia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END;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$$ LANGUAGE plpgsql;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Função 5: desempenho do piloto — COUNT(CASE WHEN) para contar vitórias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CREATE OR REPLACE FUNCTION fn_driver_performance(p_driver_id INTEGER)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RETURNS TABLE(year INTEGER, circuit_name TEXT, total_points NUMERIC,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       victories INTEGER, races INTEGER) AS $$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BEGIN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RETURN QUERY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SELECT s.year, c.name, SUM(r.points)::NUMERIC,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COUNT(CASE WHEN r.position = '1' THEN 1 END)::INTEGER, -- conta só vitórias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COUNT(*)::INTEGER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FROM results r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JOIN races ra ON r.race_id = ra.id JOIN seasons s ON ra.season_id = s.id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JOIN circuits c ON ra.circuit_id = c.id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WHERE r.driver_id = p_driver_id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GROUP BY s.year, c.id, c.name ORDER BY s.year DESC;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END;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$$ LANGUAGE plpgsql;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Decisão SQL — COUNT(CASE WHEN) vs Subquery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5394960" cy="260604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666"/>
                </a:solidFill>
                <a:latin typeface="Calibri"/>
              </a:rPr>
              <a:t>Abordagem com subquery (evitada)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1463040"/>
            <a:ext cx="5212080" cy="210312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" y="1572768"/>
            <a:ext cx="4992624" cy="1883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2AAFF"/>
                </a:solidFill>
                <a:latin typeface="Courier New"/>
              </a:rPr>
              <a:t>SELECT d.given_name, d.family_name,</a:t>
            </a:r>
          </a:p>
          <a:p>
            <a:pPr algn="l"/>
            <a:r>
              <a:rPr sz="1000">
                <a:solidFill>
                  <a:srgbClr val="82AAFF"/>
                </a:solidFill>
                <a:latin typeface="Courier New"/>
              </a:rPr>
              <a:t>  (SELECT COUNT(*) FROM results r2</a:t>
            </a:r>
          </a:p>
          <a:p>
            <a:pPr algn="l"/>
            <a:r>
              <a:rPr sz="1000">
                <a:solidFill>
                  <a:srgbClr val="82AAFF"/>
                </a:solidFill>
                <a:latin typeface="Courier New"/>
              </a:rPr>
              <a:t>   WHERE r2.driver_id = d.id</a:t>
            </a:r>
          </a:p>
          <a:p>
            <a:pPr algn="l"/>
            <a:r>
              <a:rPr sz="1000">
                <a:solidFill>
                  <a:srgbClr val="82AAFF"/>
                </a:solidFill>
                <a:latin typeface="Courier New"/>
              </a:rPr>
              <a:t>     AND r2.constructor_id = $1</a:t>
            </a:r>
          </a:p>
          <a:p>
            <a:pPr algn="l"/>
            <a:r>
              <a:rPr sz="1000">
                <a:solidFill>
                  <a:srgbClr val="82AAFF"/>
                </a:solidFill>
                <a:latin typeface="Courier New"/>
              </a:rPr>
              <a:t>     AND r2.position = '1'</a:t>
            </a:r>
          </a:p>
          <a:p>
            <a:pPr algn="l"/>
            <a:r>
              <a:rPr sz="1000">
                <a:solidFill>
                  <a:srgbClr val="82AAFF"/>
                </a:solidFill>
                <a:latin typeface="Courier New"/>
              </a:rPr>
              <a:t>  ) AS vitorias</a:t>
            </a:r>
          </a:p>
          <a:p>
            <a:pPr algn="l"/>
            <a:r>
              <a:rPr sz="1000">
                <a:solidFill>
                  <a:srgbClr val="82AAFF"/>
                </a:solidFill>
                <a:latin typeface="Courier New"/>
              </a:rPr>
              <a:t>FROM drivers d</a:t>
            </a:r>
          </a:p>
          <a:p>
            <a:pPr algn="l"/>
            <a:r>
              <a:rPr sz="1000">
                <a:solidFill>
                  <a:srgbClr val="82AAFF"/>
                </a:solidFill>
                <a:latin typeface="Courier New"/>
              </a:rPr>
              <a:t>JOIN results res ON d.id = res.driver_id</a:t>
            </a:r>
          </a:p>
          <a:p>
            <a:pPr algn="l"/>
            <a:r>
              <a:rPr sz="1000">
                <a:solidFill>
                  <a:srgbClr val="82AAFF"/>
                </a:solidFill>
                <a:latin typeface="Courier New"/>
              </a:rPr>
              <a:t>WHERE res.constructor_id = $1</a:t>
            </a:r>
          </a:p>
          <a:p>
            <a:pPr algn="l"/>
            <a:r>
              <a:rPr sz="1000">
                <a:solidFill>
                  <a:srgbClr val="82AAFF"/>
                </a:solidFill>
                <a:latin typeface="Courier New"/>
              </a:rPr>
              <a:t>GROUP BY d.id;</a:t>
            </a:r>
          </a:p>
          <a:p>
            <a:pPr algn="l"/>
            <a:r>
              <a:rPr sz="1000">
                <a:solidFill>
                  <a:srgbClr val="6A8A6A"/>
                </a:solidFill>
                <a:latin typeface="Courier New"/>
              </a:rPr>
              <a:t>-- Subquery correlacionada executa</a:t>
            </a:r>
          </a:p>
          <a:p>
            <a:pPr algn="l"/>
            <a:r>
              <a:rPr sz="1000">
                <a:solidFill>
                  <a:srgbClr val="6A8A6A"/>
                </a:solidFill>
                <a:latin typeface="Courier New"/>
              </a:rPr>
              <a:t>-- uma vez por linha de drivers → lento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51560"/>
            <a:ext cx="5577840" cy="2606040"/>
          </a:xfrm>
          <a:prstGeom prst="rect">
            <a:avLst/>
          </a:prstGeom>
          <a:solidFill>
            <a:srgbClr val="1E1E2E"/>
          </a:solidFill>
          <a:ln w="9525">
            <a:solidFill>
              <a:srgbClr val="E8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097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0FA7B"/>
                </a:solidFill>
                <a:latin typeface="Calibri"/>
              </a:rPr>
              <a:t>Abordagem adotada — COUNT(CASE WHEN)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486400" cy="210312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572768"/>
            <a:ext cx="5266944" cy="1883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82AAFF"/>
                </a:solidFill>
                <a:latin typeface="Courier New"/>
              </a:rPr>
              <a:t>SELECT d.given_name, d.family_name,</a:t>
            </a:r>
          </a:p>
          <a:p>
            <a:pPr algn="l"/>
            <a:r>
              <a:rPr sz="1000">
                <a:solidFill>
                  <a:srgbClr val="82AAFF"/>
                </a:solidFill>
                <a:latin typeface="Courier New"/>
              </a:rPr>
              <a:t>  COUNT(CASE WHEN res.position = '1'</a:t>
            </a:r>
          </a:p>
          <a:p>
            <a:pPr algn="l"/>
            <a:r>
              <a:rPr sz="1000">
                <a:solidFill>
                  <a:srgbClr val="82AAFF"/>
                </a:solidFill>
                <a:latin typeface="Courier New"/>
              </a:rPr>
              <a:t>             THEN 1 END)::INTEGER</a:t>
            </a:r>
          </a:p>
          <a:p>
            <a:pPr algn="l"/>
            <a:r>
              <a:rPr sz="1000">
                <a:solidFill>
                  <a:srgbClr val="82AAFF"/>
                </a:solidFill>
                <a:latin typeface="Courier New"/>
              </a:rPr>
              <a:t>    AS primeiras_posicoes</a:t>
            </a:r>
          </a:p>
          <a:p>
            <a:pPr algn="l"/>
            <a:r>
              <a:rPr sz="1000">
                <a:solidFill>
                  <a:srgbClr val="82AAFF"/>
                </a:solidFill>
                <a:latin typeface="Courier New"/>
              </a:rPr>
              <a:t>FROM results res</a:t>
            </a:r>
          </a:p>
          <a:p>
            <a:pPr algn="l"/>
            <a:r>
              <a:rPr sz="1000">
                <a:solidFill>
                  <a:srgbClr val="82AAFF"/>
                </a:solidFill>
                <a:latin typeface="Courier New"/>
              </a:rPr>
              <a:t>JOIN drivers d ON res.driver_id = d.id</a:t>
            </a:r>
          </a:p>
          <a:p>
            <a:pPr algn="l"/>
            <a:r>
              <a:rPr sz="1000">
                <a:solidFill>
                  <a:srgbClr val="82AAFF"/>
                </a:solidFill>
                <a:latin typeface="Courier New"/>
              </a:rPr>
              <a:t>WHERE res.constructor_id = $1</a:t>
            </a:r>
          </a:p>
          <a:p>
            <a:pPr algn="l"/>
            <a:r>
              <a:rPr sz="1000">
                <a:solidFill>
                  <a:srgbClr val="82AAFF"/>
                </a:solidFill>
                <a:latin typeface="Courier New"/>
              </a:rPr>
              <a:t>GROUP BY d.id, d.given_name, d.family_name</a:t>
            </a:r>
          </a:p>
          <a:p>
            <a:pPr algn="l"/>
            <a:r>
              <a:rPr sz="1000">
                <a:solidFill>
                  <a:srgbClr val="82AAFF"/>
                </a:solidFill>
                <a:latin typeface="Courier New"/>
              </a:rPr>
              <a:t>ORDER BY primeiras_posicoes DESC;</a:t>
            </a:r>
          </a:p>
          <a:p>
            <a:pPr algn="l"/>
            <a:r>
              <a:rPr sz="1000">
                <a:solidFill>
                  <a:srgbClr val="6A8A6A"/>
                </a:solidFill>
                <a:latin typeface="Courier New"/>
              </a:rPr>
              <a:t>-- Uma só passagem pela tabela results.</a:t>
            </a:r>
          </a:p>
          <a:p>
            <a:pPr algn="l"/>
            <a:r>
              <a:rPr sz="1000">
                <a:solidFill>
                  <a:srgbClr val="6A8A6A"/>
                </a:solidFill>
                <a:latin typeface="Courier New"/>
              </a:rPr>
              <a:t>-- CASE retorna NULL se não for vitória;</a:t>
            </a:r>
          </a:p>
          <a:p>
            <a:pPr algn="l"/>
            <a:r>
              <a:rPr sz="1000">
                <a:solidFill>
                  <a:srgbClr val="6A8A6A"/>
                </a:solidFill>
                <a:latin typeface="Courier New"/>
              </a:rPr>
              <a:t>-- COUNT ignora NULL → conta só vitórias.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822191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0020"/>
                </a:solidFill>
                <a:latin typeface="Calibri"/>
              </a:rPr>
              <a:t>Por que COUNT(CASE WHEN) é melhor aqui?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" y="4370831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424281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Subquery correlacionada executa uma vez por linha de resultado — ineficiente em tabelas grandes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" y="4828031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70001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COUNT(CASE WHEN) faz uma única passagem sobre results e conta condicionalmente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" y="5285231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515721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COUNT ignora NULL por definição — CASE retorna NULL nos casos que não queremos contar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" y="5742431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561441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Usado em R4 (escuderia) e em fn_driver_performance (piloto)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Decisão SQL — EXISTS vs JOIN (Busca de Pilotos da Escuderia)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11521440" cy="406908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33856"/>
            <a:ext cx="11301984" cy="3849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Requisito: buscar pilotos por sobrenome que JÁ CORRERAM pela escuderia logada.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Dica do enunciado: verificar via tabela RESULTS.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SELECT d.given_name || ' ' || d.family_name AS full_name,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       d.date_of_birth, d.nationality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FROM drivers 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WHERE LOWER(d.family_name) LIKE LOWER($1)   -- busca case-insensitive e parcial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AND EXISTS (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SELECT 1                    -- SELECT 1: convencional em EXISTS — valor não importa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FROM results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WHERE driver_id     = d.id  -- correlaciona com o driver da query externa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 AND constructor_id = $2   -- filtra pela escuderia logada (vem da sessão)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  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ORDER BY d.given_name, d.family_name;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Por que EXISTS e não JOIN?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JOIN retornaria uma linha por corrida (Hamilton → 300+ linhas para a Mercedes)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Teríamos que adicionar DISTINCT ou GROUP BY para deduplicar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EXISTS para na PRIMEIRA linha encontrada → mais eficiente quando só precisamos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saber SE o piloto correu (não quantas vezes)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18464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0020"/>
                </a:solidFill>
                <a:latin typeface="Calibri"/>
              </a:rPr>
              <a:t>Decisões técnicas desta query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5733288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56052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LOWER() nos dois lados: busca insensível a maiúsculas sem índice funcional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6190488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60624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constructor_id = $2 vem da sessão do usuário logado — não é parâmetro do 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" y="6647688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65196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EXISTS com subquery correlacionada: para em O(1) por piloto ao achar a 1ª corrida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Autenticação — MD5 no Banco e Auditoria com USERS_LOG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448056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15568"/>
            <a:ext cx="11301984" cy="4261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── AUTENTICAÇÃO ──────────────────────────────────────────────────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md5($2) calculado pelo PostgreSQL no momento da comparação.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A senha em texto puro ($2) nunca é armazenada; o hash é comparado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diretamente com o hash já gravado em USERS.password.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SELECT userid, login, tipo, id_original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FROM USERS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WHERE login    = $1          -- $1 = login digitado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AND password = md5($2);    -- $2 = senha digitada → comparação de hashes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Se 0 linhas → 401 Unauthorized. Se 1 linha → autenticado.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── REGISTRO NO LOG ──────────────────────────────────────────────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INSERT INTO USERS_LOG (userid, acao, timestamp)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VALUES ($1, 'LOGIN', NOW());   -- DEFAULT NOW() garantiria o mesmo resultado,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                                -- mas passamos explicitamente por clareza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── BUSCA DO NOME DE EXIBIÇÃO (sem redundância em USERS) ─────────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Nome não é armazenado em USERS — buscamos na tabela de origem.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Piloto: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SELECT given_name || ' ' || family_name AS nome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FROM drivers WHERE id = $1;            -- $1 = id_original do usuário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Escuderia: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SELECT name AS nome FROM constructors WHERE id = $1;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Admin: nome fixo no código → 'Administrador'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5596128"/>
            <a:ext cx="1152144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5632704"/>
            <a:ext cx="11301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  <a:latin typeface="Calibri"/>
              </a:rPr>
              <a:t>displayName buscado na tabela de origem (drivers/constructors): evita redundância. Se o nome for atualizado na tabela base, o login reflete automaticamente.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6126480"/>
            <a:ext cx="1152144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6163056"/>
            <a:ext cx="11301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  <a:latin typeface="Calibri"/>
              </a:rPr>
              <a:t>Cada LOGIN e LOGOUT registrado em USERS_LOG com timestamp: rastreabilidade completa de acesso.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Views e Índices — Reutilização e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461772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15568"/>
            <a:ext cx="11301984" cy="4398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VIEW 1: corridas da temporada mais recente — encapsula a subquery MAX(year)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CREATE OR REPLACE VIEW vw_season_recente AS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SELECT r.id AS race_id, r.race_name, r.race_date, r.race_time,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s.year, c.id AS circuit_id, c.name AS circuit_name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FROM races r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JOIN seasons  s ON r.season_id  = s.id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JOIN circuits c ON r.circuit_id = c.id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WHERE s.year = (SELECT MAX(year) FROM seasons);  -- sempre a temporada mais nova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VIEW 2: resultados completos — todos os JOINs necessários em um só lugar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CREATE OR REPLACE VIEW vw_resultados AS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SELECT res.*, d.given_name || ' ' || d.family_name AS driver_name,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con.name AS constructor_name, ra.race_name, s.year,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c.name AS circuit_name, st.status AS status_nome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FROM results res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JOIN drivers d ON res.driver_id = d.id JOIN constructors con ON res.constructor_id = con.id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JOIN races ra  ON res.race_id   = ra.id JOIN seasons s ON ra.season_id = s.id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JOIN circuits c ON ra.circuit_id = c.id JOIN status st ON res.status_id = st.id;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ÍNDICES B-TREE — justificativas: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CREATE INDEX IF NOT EXISTS idx_results_constructor ON results(constructor_id); -- R3,R4,R5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CREATE INDEX IF NOT EXISTS idx_results_driver      ON results(driver_id);      -- R6,R7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CREATE INDEX IF NOT EXISTS idx_results_race        ON results(race_id);        -- todos JOINs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CREATE INDEX IF NOT EXISTS idx_airports_coords ON airports(latitude_deg, longitude_deg); -- R2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CREATE INDEX IF NOT EXISTS idx_cities_coords   ON cities(latitude, longitude);           -- R2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5733288"/>
            <a:ext cx="1152144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5769864"/>
            <a:ext cx="11301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  <a:latin typeface="Calibri"/>
              </a:rPr>
              <a:t>B-Tree organiza em O(log n) vs O(n) (full scan). results tem milhões de linhas — índices em constructor_id e driver_id são críticos para os relatórios.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Dashboard Admin — Subqueries Escalares e LEFT JOIN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484632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15568"/>
            <a:ext cx="11301984" cy="4626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ITEM 1: totais em uma única query (evita 3 viagens ao banco)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SELECT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(SELECT COUNT(*) FROM drivers)      AS total_drivers,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(SELECT COUNT(*) FROM constructors) AS total_constructors,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(SELECT COUNT(*) FROM seasons)      AS total_seasons;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ITEM 2: corridas da temporada mais recente com voltas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SELECT r.race_name, c.name AS circuit,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       r.race_date, r.race_time,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COALESCE(MAX(res.laps), 0) AS total_voltas -- 0 se não houver resultados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FROM races r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JOIN circuits c ON r.circuit_id = c.id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JOIN seasons s  ON r.season_id  = s.id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LEFT JOIN results res ON r.id = res.race_id  -- LEFT: inclui corridas sem resultados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WHERE s.year = (SELECT MAX(year) FROM seasons) -- temporada mais recente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GROUP BY r.id, r.race_name, c.name, r.race_date, r.race_time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ORDER BY r.race_date;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ITEM 3 &amp; 4: escuderias e pilotos com pontos — mesmo padrão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SELECT c.name, SUM(res.points) AS total_pontos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FROM constructors c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JOIN results res ON c.id = res.constructor_id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JOIN races r ON res.race_id = r.id JOIN seasons s ON r.season_id = s.id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WHERE s.year = (SELECT MAX(year) FROM seasons)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GROUP BY c.id, c.name ORDER BY total_pontos DESC;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5943600"/>
            <a:ext cx="1152144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5980176"/>
            <a:ext cx="11301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  <a:latin typeface="Calibri"/>
              </a:rPr>
              <a:t>LEFT JOIN em results: inclui corridas que ainda não têm resultados (ex: corridas futuras na base). COALESCE retorna 0 em vez de NULL.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6473952"/>
            <a:ext cx="1152144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6510528"/>
            <a:ext cx="11301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  <a:latin typeface="Calibri"/>
              </a:rPr>
              <a:t>Subquery escalar (SELECT MAX(year)) reutilizada nos 3 blocos: garante que todos usem o mesmo ano.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Relatório R2 — CTEs, Bounding Box e Fórmula de Haversine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507492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15568"/>
            <a:ext cx="11301984" cy="4855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WITH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CTE 1: cidades brasileiras com o nome digitado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input_cities AS (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SELECT c.id, c.name, c.latitude, c.longitude FROM cities c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JOIN countries co ON c.country_id = co.id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WHERE co.code = 'BR' AND c.name ILIKE $1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AND c.latitude IS NOT NULL AND c.longitude IS NOT NULL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),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CTE 2: pré-filtro via bounding box do Brasil (lat/lon em graus)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Evita aplicar Haversine (cálculo caro) em aeroportos do mundo todo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bounding AS (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SELECT a.id, a.iata_code, a.name AS airport_nome, a.latitude_deg, a.longitude_deg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FROM airports a JOIN airport_types at ON a.airport_type_id = at.id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WHERE a.iata_code IS NOT NULL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AND at.type IN ('medium_airport','large_airport')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AND a.latitude_deg  BETWEEN -36 AND 6    -- bounding box aproximado do Brasil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AND a.longitude_deg BETWEEN -75 AND -32  -- idx_airports_coords usado aqui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),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CTE 3: distância real via Haversine (d = R * acos(cos*cos*cos + sin*sin))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distances AS (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SELECT ic.name AS cidade_pesquisada, b.iata_code, b.airport_nome,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 ROUND((6371 * acos(GREATEST(-1, LEAST(1,  -- clamp para evitar erro no acos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            cos(radians(ic.latitude)) * cos(radians(b.latitude_deg)) *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            cos(radians(b.longitude_deg) - radians(ic.longitude)) +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            sin(radians(ic.latitude)) * sin(radians(b.latitude_deg))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    ))))::numeric, 2) AS distancia_km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FROM input_cities ic CROSS JOIN bounding b  -- CROSS JOIN viável após bounding box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>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SELECT * FROM distances WHERE distancia_km &lt;= 100 ORDER BY distancia_km;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172200"/>
            <a:ext cx="1152144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6208776"/>
            <a:ext cx="11301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  <a:latin typeface="Calibri"/>
              </a:rPr>
              <a:t>CTEs dividem a query em etapas nomeadas e legíveis: input → filtro geográfico → cálculo de distância → resultado.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6702552"/>
            <a:ext cx="1152144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6739128"/>
            <a:ext cx="11301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  <a:latin typeface="Calibri"/>
              </a:rPr>
              <a:t>Bounding box elimina ~95% dos aeroportos antes de aplicar Haversine, usando o índice idx_airports_coords.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Relatório R3 — Hierarquia em 3 Níveis e Lazy Loading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507492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15568"/>
            <a:ext cx="11301984" cy="4855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NÍVEL 0: escuderias com pilotos únicos e corridas totais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SELECT c.id, c.name,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COUNT(DISTINCT res.driver_id) AS num_pilotos,   -- COUNT DISTINCT: pilotos únicos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COUNT(DISTINCT res.race_id)   AS total_corridas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FROM constructors c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LEFT JOIN results res ON c.id = res.constructor_id   -- LEFT: inclui escuderias sem corridas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GROUP BY c.id, c.name ORDER BY num_pilotos DESC;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NÍVEL 2: circuitos da escuderia selecionada (só carrega ao clicar)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SELECT ci.id, ci.name AS circuit_name,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COUNT(DISTINCT ra.id)         AS total_corridas,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MIN(lp.max_laps)              AS min_voltas,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ROUND(AVG(lp.max_laps))::INTEGER AS avg_voltas,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MAX(lp.max_laps)              AS max_voltas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FROM results res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JOIN races ra ON res.race_id = ra.id JOIN circuits ci ON ra.circuit_id = ci.id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JOIN (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    -- Subquery inline: máx voltas por corrida desta escuderia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SELECT race_id, MAX(laps) AS max_laps FROM results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WHERE laps IS NOT NULL AND constructor_id = $1 GROUP BY race_id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) lp ON ra.id = lp.race_id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WHERE res.constructor_id = $1 GROUP BY ci.id, ci.name;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NÍVEL 3: corridas do circuito (só carrega ao clicar no circuito)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SELECT ra.race_name, s.year, COALESCE(MAX(res.laps),0) AS total_voltas,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  COUNT(DISTINCT res.driver_id) AS num_pilotos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FROM results res JOIN races ra ON res.race_id = ra.id JOIN seasons s ON ra.season_id = s.id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WHERE res.constructor_id = $1 AND ra.circuit_id = $2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GROUP BY ra.id, ra.race_name, s.year ORDER BY s.year DESC;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172200"/>
            <a:ext cx="1152144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6208776"/>
            <a:ext cx="11301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  <a:latin typeface="Calibri"/>
              </a:rPr>
              <a:t>3 endpoints separados = lazy loading: dados de circuitos e corridas só são buscados ao clicar — não carrega tudo de todas as escuderias de uma vez.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Relatórios R6 e R7 — Piloto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3474720"/>
          </a:xfrm>
          <a:prstGeom prst="rect">
            <a:avLst/>
          </a:prstGeom>
          <a:solidFill>
            <a:srgbClr val="1E1E2E"/>
          </a:solidFill>
          <a:ln w="9525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15568"/>
            <a:ext cx="11301984" cy="32552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R6: pontos por corrida e por ano do piloto logado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O frontend recebe as linhas e agrupa por ano para calcular o total.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SELECT s.year AS ano, ra.race_name AS corrida, res.points AS pontos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FROM results res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JOIN races   ra ON res.race_id  = ra.id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JOIN seasons s  ON ra.season_id = s.id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WHERE res.driver_id = $1   -- apenas este piloto (vem da sessão)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  AND res.points &gt; 0       -- só corridas onde marcou pontos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ORDER BY s.year DESC, res.points DESC;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Índice utilizado: idx_results_driver</a:t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R7: resultados por status para o piloto — mesmo padrão de R5 (escuderia)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SELECT st.status AS status_nome, COUNT(*) AS quantidade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FROM results res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JOIN status st ON res.status_id = st.id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WHERE res.driver_id = $1   -- contexto restrito ao piloto logado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GROUP BY st.id, st.status</a:t>
            </a:r>
          </a:p>
          <a:p>
            <a:pPr algn="l"/>
            <a:r>
              <a:rPr sz="1050">
                <a:solidFill>
                  <a:srgbClr val="82AAFF"/>
                </a:solidFill>
                <a:latin typeface="Courier New"/>
              </a:rPr>
              <a:t>ORDER BY quantidade DESC;</a:t>
            </a:r>
          </a:p>
          <a:p>
            <a:pPr algn="l"/>
            <a:r>
              <a:rPr sz="1050">
                <a:solidFill>
                  <a:srgbClr val="6A8A6A"/>
                </a:solidFill>
                <a:latin typeface="Courier New"/>
              </a:rPr>
              <a:t>-- Índice utilizado: idx_results_driver + idx_results_status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1772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0020"/>
                </a:solidFill>
                <a:latin typeface="Calibri"/>
              </a:rPr>
              <a:t>Decisão de segurança em todos os relatórios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5166359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503834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 id do usuário logado vem da sessão server-side (Express session) — nunca do 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5623559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549554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Escuderia e Piloto só acessam seus próprios dados; Admin não tem filtro de escopo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" y="6080759"/>
            <a:ext cx="64008" cy="6400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595274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Nenhum endpoint de escrita está exposto para o perfil Piloto (apenas leitura)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960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Resumo — Conceitos de BD Aplicados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24128"/>
            <a:ext cx="3200400" cy="347472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060704"/>
            <a:ext cx="3127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Conceito 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024128"/>
            <a:ext cx="5029200" cy="347472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060704"/>
            <a:ext cx="4956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Decisão / Justificativa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024128"/>
            <a:ext cx="3017520" cy="347472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1664" y="1060704"/>
            <a:ext cx="2944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71600"/>
            <a:ext cx="320040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399032"/>
            <a:ext cx="3127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700"/>
                </a:solidFill>
                <a:latin typeface="Calibri"/>
              </a:rPr>
              <a:t>CHECK constraint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371600"/>
            <a:ext cx="502920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399032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0D0"/>
                </a:solidFill>
                <a:latin typeface="Calibri"/>
              </a:rPr>
              <a:t>Garante integridade no banco, não no código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301752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41664" y="1399032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CCFF"/>
                </a:solidFill>
                <a:latin typeface="Calibri"/>
              </a:rPr>
              <a:t>01_create_tables.sql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719072"/>
            <a:ext cx="3200400" cy="3474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1746504"/>
            <a:ext cx="3127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700"/>
                </a:solidFill>
                <a:latin typeface="Calibri"/>
              </a:rPr>
              <a:t>INSERT … SELECT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1719072"/>
            <a:ext cx="5029200" cy="3474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746504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0D0"/>
                </a:solidFill>
                <a:latin typeface="Calibri"/>
              </a:rPr>
              <a:t>Populate em massa sem loop no backend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1719072"/>
            <a:ext cx="3017520" cy="3474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41664" y="1746504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CCFF"/>
                </a:solidFill>
                <a:latin typeface="Calibri"/>
              </a:rPr>
              <a:t>02_populate_users.sql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066543"/>
            <a:ext cx="320040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" y="2093975"/>
            <a:ext cx="3127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700"/>
                </a:solidFill>
                <a:latin typeface="Calibri"/>
              </a:rPr>
              <a:t>ON CONFLICT DO NOTHING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2066543"/>
            <a:ext cx="502920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1024" y="2093975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0D0"/>
                </a:solidFill>
                <a:latin typeface="Calibri"/>
              </a:rPr>
              <a:t>Idempotência — scripts seguros para reexecutar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2066543"/>
            <a:ext cx="301752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41664" y="2093975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CCFF"/>
                </a:solidFill>
                <a:latin typeface="Calibri"/>
              </a:rPr>
              <a:t>02_populate_users.sql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414016"/>
            <a:ext cx="3200400" cy="3474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" y="2441448"/>
            <a:ext cx="3127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700"/>
                </a:solidFill>
                <a:latin typeface="Calibri"/>
              </a:rPr>
              <a:t>Trigger AFTER INSERT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2414016"/>
            <a:ext cx="5029200" cy="3474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21024" y="2441448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0D0"/>
                </a:solidFill>
                <a:latin typeface="Calibri"/>
              </a:rPr>
              <a:t>AFTER: NEW.id já existe (SERIAL gerado)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2414016"/>
            <a:ext cx="3017520" cy="3474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1664" y="2441448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CCFF"/>
                </a:solidFill>
                <a:latin typeface="Calibri"/>
              </a:rPr>
              <a:t>03_triggers.sql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761488"/>
            <a:ext cx="320040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" y="2788920"/>
            <a:ext cx="3127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700"/>
                </a:solidFill>
                <a:latin typeface="Calibri"/>
              </a:rPr>
              <a:t>RAISE EXCEPTION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2761488"/>
            <a:ext cx="502920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1024" y="2788920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0D0"/>
                </a:solidFill>
                <a:latin typeface="Calibri"/>
              </a:rPr>
              <a:t>Reverte INSERT atomicamente se login duplicado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2761488"/>
            <a:ext cx="301752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4" y="2788920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CCFF"/>
                </a:solidFill>
                <a:latin typeface="Calibri"/>
              </a:rPr>
              <a:t>03_triggers.sql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108960"/>
            <a:ext cx="3200400" cy="3474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" y="3136391"/>
            <a:ext cx="3127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700"/>
                </a:solidFill>
                <a:latin typeface="Calibri"/>
              </a:rPr>
              <a:t>RETURNS TABLE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60" y="3108960"/>
            <a:ext cx="5029200" cy="3474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21024" y="3136391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0D0"/>
                </a:solidFill>
                <a:latin typeface="Calibri"/>
              </a:rPr>
              <a:t>Funções que retornam múltiplas colunas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0" y="3108960"/>
            <a:ext cx="3017520" cy="3474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41664" y="3136391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CCFF"/>
                </a:solidFill>
                <a:latin typeface="Calibri"/>
              </a:rPr>
              <a:t>04_functions.sql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456432"/>
            <a:ext cx="320040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" y="3483864"/>
            <a:ext cx="3127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700"/>
                </a:solidFill>
                <a:latin typeface="Calibri"/>
              </a:rPr>
              <a:t>COUNT(CASE WHEN)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60" y="3456432"/>
            <a:ext cx="502920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21024" y="3483864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0D0"/>
                </a:solidFill>
                <a:latin typeface="Calibri"/>
              </a:rPr>
              <a:t>Uma passagem vs subquery por linha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0" y="3456432"/>
            <a:ext cx="301752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41664" y="3483864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CCFF"/>
                </a:solidFill>
                <a:latin typeface="Calibri"/>
              </a:rPr>
              <a:t>04_functions.sql / R4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803904"/>
            <a:ext cx="3200400" cy="3474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84" y="3831336"/>
            <a:ext cx="3127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700"/>
                </a:solidFill>
                <a:latin typeface="Calibri"/>
              </a:rPr>
              <a:t>EXISTS (correlacionada)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66160" y="3803904"/>
            <a:ext cx="5029200" cy="3474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21024" y="3831336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0D0"/>
                </a:solidFill>
                <a:latin typeface="Calibri"/>
              </a:rPr>
              <a:t>Para na 1ª linha — eficiente para verificar existência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86800" y="3803904"/>
            <a:ext cx="3017520" cy="3474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1664" y="3831336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CCFF"/>
                </a:solidFill>
                <a:latin typeface="Calibri"/>
              </a:rPr>
              <a:t>escuderia.js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151376"/>
            <a:ext cx="320040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9184" y="4178808"/>
            <a:ext cx="3127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700"/>
                </a:solidFill>
                <a:latin typeface="Calibri"/>
              </a:rPr>
              <a:t>CTEs (WITH)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66160" y="4151376"/>
            <a:ext cx="502920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21024" y="4178808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0D0"/>
                </a:solidFill>
                <a:latin typeface="Calibri"/>
              </a:rPr>
              <a:t>Modularidade: Bounding Box → Haversine → filtro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86800" y="4151376"/>
            <a:ext cx="301752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41664" y="4178808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CCFF"/>
                </a:solidFill>
                <a:latin typeface="Calibri"/>
              </a:rPr>
              <a:t>R2 admin.js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498848"/>
            <a:ext cx="3200400" cy="3474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9184" y="4526280"/>
            <a:ext cx="3127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700"/>
                </a:solidFill>
                <a:latin typeface="Calibri"/>
              </a:rPr>
              <a:t>LEFT JOIN + COALESCE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66160" y="4498848"/>
            <a:ext cx="5029200" cy="3474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21024" y="4526280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0D0"/>
                </a:solidFill>
                <a:latin typeface="Calibri"/>
              </a:rPr>
              <a:t>Inclui corridas sem resultados; evita NULL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86800" y="4498848"/>
            <a:ext cx="3017520" cy="3474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41664" y="4526280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CCFF"/>
                </a:solidFill>
                <a:latin typeface="Calibri"/>
              </a:rPr>
              <a:t>Dashboard / R3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4846320"/>
            <a:ext cx="320040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9184" y="4873752"/>
            <a:ext cx="3127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700"/>
                </a:solidFill>
                <a:latin typeface="Calibri"/>
              </a:rPr>
              <a:t>Índices B-Tree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566160" y="4846320"/>
            <a:ext cx="502920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21024" y="4873752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0D0"/>
                </a:solidFill>
                <a:latin typeface="Calibri"/>
              </a:rPr>
              <a:t>O(log n) nos JOINs mais pesados de results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686800" y="4846320"/>
            <a:ext cx="301752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741664" y="4873752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CCFF"/>
                </a:solidFill>
                <a:latin typeface="Calibri"/>
              </a:rPr>
              <a:t>05_views_indexes.sql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5193792"/>
            <a:ext cx="3200400" cy="3474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9184" y="5221224"/>
            <a:ext cx="3127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700"/>
                </a:solidFill>
                <a:latin typeface="Calibri"/>
              </a:rPr>
              <a:t>md5() no PostgreSQL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66160" y="5193792"/>
            <a:ext cx="5029200" cy="3474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21024" y="5221224"/>
            <a:ext cx="4956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D0D0"/>
                </a:solidFill>
                <a:latin typeface="Calibri"/>
              </a:rPr>
              <a:t>Senha nunca em texto puro entre app e banco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86800" y="5193792"/>
            <a:ext cx="3017520" cy="347472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741664" y="5221224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CCFF"/>
                </a:solidFill>
                <a:latin typeface="Calibri"/>
              </a:rPr>
              <a:t>auth.js / populate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377440"/>
            <a:ext cx="12188952" cy="2286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  <a:latin typeface="Calibri"/>
              </a:rPr>
              <a:t>Obrigada!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SCC-541  ·  Projeto Final — F1 Database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9067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D0D0D0"/>
                </a:solidFill>
                <a:latin typeface="Calibri"/>
              </a:rPr>
              <a:t>Carolina Guerreiro  ·  ICMC – USP São Carlos  ·  17/06/2026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E80020"/>
                </a:solidFill>
                <a:latin typeface="Calibri"/>
              </a:rPr>
              <a:t>"No banco de dados, as decisões de design são as voltas rápidas."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